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0" r:id="rId5"/>
    <p:sldId id="261" r:id="rId6"/>
    <p:sldId id="268" r:id="rId7"/>
    <p:sldId id="264" r:id="rId8"/>
    <p:sldId id="272" r:id="rId9"/>
    <p:sldId id="265" r:id="rId10"/>
    <p:sldId id="283" r:id="rId11"/>
    <p:sldId id="263" r:id="rId12"/>
    <p:sldId id="281" r:id="rId13"/>
    <p:sldId id="275" r:id="rId14"/>
    <p:sldId id="271" r:id="rId15"/>
    <p:sldId id="274" r:id="rId16"/>
    <p:sldId id="276" r:id="rId17"/>
    <p:sldId id="288" r:id="rId18"/>
    <p:sldId id="287" r:id="rId19"/>
    <p:sldId id="280" r:id="rId20"/>
    <p:sldId id="286" r:id="rId21"/>
    <p:sldId id="278" r:id="rId22"/>
    <p:sldId id="282" r:id="rId23"/>
    <p:sldId id="285" r:id="rId24"/>
    <p:sldId id="284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0439"/>
    <p:restoredTop sz="96291"/>
  </p:normalViewPr>
  <p:slideViewPr>
    <p:cSldViewPr snapToGrid="0" snapToObjects="1">
      <p:cViewPr varScale="1">
        <p:scale>
          <a:sx n="131" d="100"/>
          <a:sy n="131" d="100"/>
        </p:scale>
        <p:origin x="192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/>
              <a:t>Multiple TSSs can modulate the same gene’s transcript abundance and isoform composition.</a:t>
            </a:r>
            <a:endParaRPr lang="en-US" altLang="zh-TW" dirty="0"/>
          </a:p>
          <a:p>
            <a:r>
              <a:rPr lang="en-US" altLang="zh-TW" b="1" dirty="0"/>
              <a:t>In this study, TSSs within the same gene are largely co-regulated, showing positive correlations in usage.</a:t>
            </a:r>
            <a:endParaRPr lang="en-US" altLang="zh-TW" dirty="0"/>
          </a:p>
          <a:p>
            <a:r>
              <a:rPr lang="en-US" altLang="zh-TW" b="1" dirty="0"/>
              <a:t>Correlation strength depends on distance: proximal TSSs (≈ within the same promoter) correlate more strongly, whereas distant alternative promoters show weaker correlations.</a:t>
            </a:r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15ECD-1696-DD4F-A6FC-E28D61B4693F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67170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7F1DE8-B7A7-8C4D-B5FA-B90627AC85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8EF01AA-0480-EF4A-91D2-A4CF8483EB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218A4B-3E51-4F4D-98D1-97C23E8C7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27B15-20D8-8C42-BFC2-482B83C9C14F}" type="datetime1">
              <a:rPr kumimoji="1" lang="zh-TW" altLang="en-US" smtClean="0"/>
              <a:t>2025/11/11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CEE96D-B65E-B248-80A2-4F1B2058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81A38A-A8BA-3348-8346-EA1324300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52862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4DA6E7-B5F7-474F-877D-CB197C920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516C5E-C031-E145-8DF5-FFC93F672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456CBE-43F6-9740-8C86-74A799068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FF6AA-6AB6-F349-9982-29749F2E6E71}" type="datetime1">
              <a:rPr kumimoji="1" lang="zh-TW" altLang="en-US" smtClean="0"/>
              <a:t>2025/11/11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638595-B083-1245-ABCC-3F31F0878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84D085-E131-3344-A725-769F908C3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7552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517932-3EDC-624B-B943-8E7452688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1E4D72-869B-A44B-AA32-E0D4C212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8286A0F-8E6D-474A-85EE-3BEFE0249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BB6F-6373-5348-BF60-0D9105332C40}" type="datetime1">
              <a:rPr kumimoji="1" lang="zh-TW" altLang="en-US" smtClean="0"/>
              <a:t>2025/11/11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ED1E692-F827-1C4C-88C8-CD76D2A45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17DD60-1575-1E41-AE30-F39F60E4A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20540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7A782A-9DFA-6940-B00D-6F391E1EE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DDCA08-68E7-8643-8D97-7D5EFD9AE5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7D1FD8A-7BE5-E140-9947-814089BE4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F99002F-8BD5-7B42-90F9-2A21904A1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1FFE-1773-5749-A91F-4B2A0F6768B3}" type="datetime1">
              <a:rPr kumimoji="1" lang="zh-TW" altLang="en-US" smtClean="0"/>
              <a:t>2025/11/11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84AB891-6CC7-3647-94F7-05029BB97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614C6BF-D0EC-184B-B97A-3B2C566D0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32824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C2B567-4616-9E4F-9278-952FD48BC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E25E56-5B40-4249-9365-3624E2A1C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A84E26F-7B42-5543-BC68-F06D55D6F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05F2F8D-70BA-E84B-AC57-F4A6F6D81F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9F970F9-DE4B-3E49-B55E-652C0FFE11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322882C-D9AB-C946-90F1-94D7162A9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688D7-36F7-BC4E-A6C3-5E7B635C8CAA}" type="datetime1">
              <a:rPr kumimoji="1" lang="zh-TW" altLang="en-US" smtClean="0"/>
              <a:t>2025/11/11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79874C6-999A-3340-B8D9-B5690EE75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8759CAC-932C-B149-A92E-01866C65F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8578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499A44-2EB6-2C48-A5F6-D6A269B5D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CBA25E6-5233-C942-8600-9845B7149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4E0EA-DEC6-8A43-A921-ABE376D219D0}" type="datetime1">
              <a:rPr kumimoji="1" lang="zh-TW" altLang="en-US" smtClean="0"/>
              <a:t>2025/11/11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D81CEFF-012A-674E-8050-2114FA1A9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ACE7914-9362-E04B-BB2E-B6DE0E72E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72054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007C53F-2A06-8841-9140-924C58904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B2F33-9079-FB46-AE22-FC8B3C517FC2}" type="datetime1">
              <a:rPr kumimoji="1" lang="zh-TW" altLang="en-US" smtClean="0"/>
              <a:t>2025/11/11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4184451-9470-E246-929B-AF85E2A3E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0F1D51-8245-7E47-BF43-50D78EDAB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2914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7BC78B-3DCF-D844-8E88-5D8FD8957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9B694A-FDBE-0F49-98E6-C22DAA492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DD81C6B-8505-2D42-A9AB-3249E664B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631E04-A1B2-B44E-87D2-10BD763AB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DE3AA-C321-0641-A466-E2C94B8A37C7}" type="datetime1">
              <a:rPr kumimoji="1" lang="zh-TW" altLang="en-US" smtClean="0"/>
              <a:t>2025/11/11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E55324-F3C1-9346-A295-F193AA979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26E23D-8B8D-4D45-9B33-71041EC4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96211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01133A-6965-BE43-9322-942917155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6946391-CAC8-9A48-90FB-9F1D1A53EF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BA6F253-C626-EF4E-BBE4-5E96F8CFD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51D3361-CC91-8A4E-886E-FED038D07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C9128-98FF-C145-B04D-0A17DDDFB36B}" type="datetime1">
              <a:rPr kumimoji="1" lang="zh-TW" altLang="en-US" smtClean="0"/>
              <a:t>2025/11/11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331609-1D9A-F24D-A858-4F6CE869B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E8FFBFF-56CF-7E42-890B-59EC5FEA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10959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2E4F3B-1B08-744A-AE4C-082489D0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CA73CCB-F3F3-8046-A5A0-325E7F317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2E24AC-C73E-484A-87C4-4EAAFBF9E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6A43A-F415-C24B-81E8-F3FB009DB306}" type="datetime1">
              <a:rPr kumimoji="1" lang="zh-TW" altLang="en-US" smtClean="0"/>
              <a:t>2025/11/11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97DA59-B979-8F47-8AF8-1834688C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2EC047-446F-644D-935A-BE479F7AA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60806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B6BF3D6-1F6C-7345-93A3-12439E96B4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956E1E2-5BE2-D141-83D7-7578D3BD4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8E0554-E9C7-4641-BD1A-69765BFAC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B8891-D59E-5F48-8111-4DA92844208B}" type="datetime1">
              <a:rPr kumimoji="1" lang="zh-TW" altLang="en-US" smtClean="0"/>
              <a:t>2025/11/11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BB8BFA-C655-CF4C-85EE-567BB9661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5871A9-1A82-D645-ADFA-9C1C0AEEB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19884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F8B58DF-C35B-634D-B987-6FDFB0F40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83CE0E9-501F-724D-8418-2170C1E23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2F8A2B4-FA56-A845-A5AD-73095C19D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B7A48-81B0-F541-ABA0-1EB8191BE977}" type="datetime1">
              <a:rPr kumimoji="1" lang="zh-TW" altLang="en-US" smtClean="0"/>
              <a:t>2025/11/11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DCF1B74-FD8C-4141-A788-DB0F56CB61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28C362-194F-5841-AB04-B715F0D1D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C7070-731C-DC46-B30D-770E746F05F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16235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bopress.org/doi/full/10.15252/msb.2016694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www.embopress.org/doi/full/10.15252/msb.20167374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86-020-2493-4?utm_source=chatgpt.com#citeas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F9CB0E-5EF1-3C4B-AB2B-BC40BB1A72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591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Gene Expression from Chromatin Landscape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26794FC-A9CC-BB40-AC8C-CA3F7A2F3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05593"/>
            <a:ext cx="9144000" cy="1655762"/>
          </a:xfrm>
        </p:spPr>
        <p:txBody>
          <a:bodyPr/>
          <a:lstStyle/>
          <a:p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Onepunch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team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Ding-Yang Wang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12/11/2025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1C22284-AD00-0543-9A9B-C86F61EE3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97" y="627323"/>
            <a:ext cx="1854200" cy="12319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A9CB06E-E294-DB46-A30E-2EEB63FB4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654" y="810002"/>
            <a:ext cx="2425700" cy="8382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7C43F62-16BE-EA4B-B4FD-EA7E1AB65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3418" y="145464"/>
            <a:ext cx="2167276" cy="2167276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2E71B77-CAAD-B643-A28F-CA3CC3955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4621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2FD7F9-722A-0240-B1B3-9024C9B54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for any project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EA16DE-EE7B-484C-A768-76ADB65FA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AutoNum type="arabicPeriod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 we have for this study/competition?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limitations of the current dataset?</a:t>
            </a:r>
          </a:p>
          <a:p>
            <a:pPr lvl="1"/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preprocessing steps are appropriate?</a:t>
            </a:r>
          </a:p>
          <a:p>
            <a:pPr lvl="1"/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features do we need and why?</a:t>
            </a:r>
          </a:p>
          <a:p>
            <a:pPr lvl="1"/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state-of-the-art models fit this dataset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1"/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evaluation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will we design the training strategy and evaluation protocol?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AE40959-BFFB-6944-A1AC-0C69E96516AD}"/>
              </a:ext>
            </a:extLst>
          </p:cNvPr>
          <p:cNvSpPr txBox="1"/>
          <p:nvPr/>
        </p:nvSpPr>
        <p:spPr>
          <a:xfrm>
            <a:off x="838200" y="1461572"/>
            <a:ext cx="10798139" cy="1371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1C12749-5310-CF4E-A383-41F12AE9A585}"/>
              </a:ext>
            </a:extLst>
          </p:cNvPr>
          <p:cNvSpPr txBox="1"/>
          <p:nvPr/>
        </p:nvSpPr>
        <p:spPr>
          <a:xfrm>
            <a:off x="7616815" y="2147372"/>
            <a:ext cx="3736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(EDA)!</a:t>
            </a:r>
            <a:endParaRPr kumimoji="1"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C3E8859-FF46-2347-A5ED-0174D150B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4896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1366CB-61D9-0F48-A190-2AC8392B7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the dataset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3888B6-1C38-F14E-BCC4-C19BA351D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 Expression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 Information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H3K27me3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ChIP-seq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H3K4me1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ChIP-seq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H3K4me3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ChIP-seq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H3K27ac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ChIP-seq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H3K36me3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ChIP-seq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H3K9me3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ChIP-seq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Chromatin Accessibility (DNase-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5" name="右中括弧 14">
            <a:extLst>
              <a:ext uri="{FF2B5EF4-FFF2-40B4-BE49-F238E27FC236}">
                <a16:creationId xmlns:a16="http://schemas.microsoft.com/office/drawing/2014/main" id="{E19EBFCB-6091-AE43-AFD6-189FA301290E}"/>
              </a:ext>
            </a:extLst>
          </p:cNvPr>
          <p:cNvSpPr/>
          <p:nvPr/>
        </p:nvSpPr>
        <p:spPr>
          <a:xfrm>
            <a:off x="7078894" y="2887038"/>
            <a:ext cx="265415" cy="3030877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68F6C178-0BD6-CD42-9F8F-8A52542A6B1A}"/>
              </a:ext>
            </a:extLst>
          </p:cNvPr>
          <p:cNvCxnSpPr>
            <a:cxnSpLocks/>
            <a:stCxn id="15" idx="2"/>
            <a:endCxn id="17" idx="1"/>
          </p:cNvCxnSpPr>
          <p:nvPr/>
        </p:nvCxnSpPr>
        <p:spPr>
          <a:xfrm flipV="1">
            <a:off x="7344309" y="4402476"/>
            <a:ext cx="157413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997D3C4-E6F6-6E4E-A3CE-ECE6210E3576}"/>
              </a:ext>
            </a:extLst>
          </p:cNvPr>
          <p:cNvSpPr txBox="1"/>
          <p:nvPr/>
        </p:nvSpPr>
        <p:spPr>
          <a:xfrm>
            <a:off x="8918440" y="4217810"/>
            <a:ext cx="2305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Chromatin Landscape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投影片編號版面配置區 23">
            <a:extLst>
              <a:ext uri="{FF2B5EF4-FFF2-40B4-BE49-F238E27FC236}">
                <a16:creationId xmlns:a16="http://schemas.microsoft.com/office/drawing/2014/main" id="{85043AC8-9C7D-A84D-AB5E-C07C520DA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70625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1366CB-61D9-0F48-A190-2AC8392B7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- Gene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DC009FF2-3456-9641-AFF9-6282CA81143C}"/>
              </a:ext>
            </a:extLst>
          </p:cNvPr>
          <p:cNvGrpSpPr/>
          <p:nvPr/>
        </p:nvGrpSpPr>
        <p:grpSpPr>
          <a:xfrm>
            <a:off x="819480" y="2326352"/>
            <a:ext cx="10654064" cy="1671691"/>
            <a:chOff x="414529" y="2646918"/>
            <a:chExt cx="10654064" cy="1671691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83B4BDFA-9DF2-EF4E-9368-096645FF4E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6387"/>
            <a:stretch/>
          </p:blipFill>
          <p:spPr>
            <a:xfrm>
              <a:off x="718456" y="2646918"/>
              <a:ext cx="10350137" cy="1671691"/>
            </a:xfrm>
            <a:prstGeom prst="rect">
              <a:avLst/>
            </a:prstGeom>
          </p:spPr>
        </p:pic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A7CBE1A5-3349-834D-8D66-91603CE20AD9}"/>
                </a:ext>
              </a:extLst>
            </p:cNvPr>
            <p:cNvSpPr txBox="1"/>
            <p:nvPr/>
          </p:nvSpPr>
          <p:spPr>
            <a:xfrm>
              <a:off x="433249" y="2646919"/>
              <a:ext cx="156536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X1, X2 train =</a:t>
              </a:r>
              <a:endPara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25F92DC1-112D-4A4B-9C99-3800463BB738}"/>
                </a:ext>
              </a:extLst>
            </p:cNvPr>
            <p:cNvSpPr txBox="1"/>
            <p:nvPr/>
          </p:nvSpPr>
          <p:spPr>
            <a:xfrm>
              <a:off x="414529" y="3349860"/>
              <a:ext cx="158408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X1, X2 </a:t>
              </a:r>
              <a:r>
                <a:rPr kumimoji="1" lang="en-US" altLang="zh-TW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val</a:t>
              </a:r>
              <a:r>
                <a: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=</a:t>
              </a:r>
              <a:endPara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7A579EF3-7388-6F42-A852-D712DA9BAD66}"/>
                </a:ext>
              </a:extLst>
            </p:cNvPr>
            <p:cNvSpPr txBox="1"/>
            <p:nvPr/>
          </p:nvSpPr>
          <p:spPr>
            <a:xfrm>
              <a:off x="433249" y="3892561"/>
              <a:ext cx="156536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X3 test          =</a:t>
              </a:r>
              <a:endPara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5" name="圖片 4">
            <a:extLst>
              <a:ext uri="{FF2B5EF4-FFF2-40B4-BE49-F238E27FC236}">
                <a16:creationId xmlns:a16="http://schemas.microsoft.com/office/drawing/2014/main" id="{B7F985BC-C9C9-A041-BC2D-9C066A728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013" y="3096883"/>
            <a:ext cx="2413787" cy="2740359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40BEEB60-B60A-574A-868A-998D57404A9B}"/>
              </a:ext>
            </a:extLst>
          </p:cNvPr>
          <p:cNvSpPr txBox="1"/>
          <p:nvPr/>
        </p:nvSpPr>
        <p:spPr>
          <a:xfrm>
            <a:off x="838200" y="1690688"/>
            <a:ext cx="2244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line: X1, X2, X3 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6B78CDC2-9800-2548-86A7-85435D556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4</a:t>
            </a:fld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ADDA831-C971-B044-A672-378461A8512E}"/>
              </a:ext>
            </a:extLst>
          </p:cNvPr>
          <p:cNvSpPr txBox="1"/>
          <p:nvPr/>
        </p:nvSpPr>
        <p:spPr>
          <a:xfrm>
            <a:off x="1838874" y="4782651"/>
            <a:ext cx="6506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task is about cross-chromosome and cross-cell lines prediction!</a:t>
            </a:r>
            <a:endParaRPr kumimoji="1"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39804E6-5788-8640-9750-1384D3B13ADA}"/>
              </a:ext>
            </a:extLst>
          </p:cNvPr>
          <p:cNvSpPr txBox="1"/>
          <p:nvPr/>
        </p:nvSpPr>
        <p:spPr>
          <a:xfrm>
            <a:off x="3439885" y="5254171"/>
            <a:ext cx="3659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your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strategy wisely!</a:t>
            </a:r>
            <a:endParaRPr kumimoji="1"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539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1366CB-61D9-0F48-A190-2AC8392B7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– Reference Gene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279D9FF-DC8C-F44D-A517-1BCBC21465CB}"/>
              </a:ext>
            </a:extLst>
          </p:cNvPr>
          <p:cNvSpPr txBox="1"/>
          <p:nvPr/>
        </p:nvSpPr>
        <p:spPr>
          <a:xfrm>
            <a:off x="7744968" y="2143542"/>
            <a:ext cx="396839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TSSs can alter a gene’s transcript abundance and isoform composition.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Xi Wang et al. 2016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Karlsson et al. (2017)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showed that TSSs within the same gene are largely co-regulated, exhibiting positive correlations in usage.</a:t>
            </a: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76EC9547-7445-FC4E-8190-539FF312904D}"/>
              </a:ext>
            </a:extLst>
          </p:cNvPr>
          <p:cNvGrpSpPr/>
          <p:nvPr/>
        </p:nvGrpSpPr>
        <p:grpSpPr>
          <a:xfrm>
            <a:off x="417605" y="1827080"/>
            <a:ext cx="7126195" cy="3784826"/>
            <a:chOff x="81429" y="1898798"/>
            <a:chExt cx="7462371" cy="3748966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D505A14C-6A7B-4746-A318-677788D53F7F}"/>
                </a:ext>
              </a:extLst>
            </p:cNvPr>
            <p:cNvGrpSpPr/>
            <p:nvPr/>
          </p:nvGrpSpPr>
          <p:grpSpPr>
            <a:xfrm>
              <a:off x="81429" y="1898798"/>
              <a:ext cx="7462371" cy="3748966"/>
              <a:chOff x="1233394" y="2526328"/>
              <a:chExt cx="3802449" cy="1879600"/>
            </a:xfrm>
          </p:grpSpPr>
          <p:pic>
            <p:nvPicPr>
              <p:cNvPr id="17" name="圖片 16">
                <a:extLst>
                  <a:ext uri="{FF2B5EF4-FFF2-40B4-BE49-F238E27FC236}">
                    <a16:creationId xmlns:a16="http://schemas.microsoft.com/office/drawing/2014/main" id="{0749507C-9651-824D-9B1A-EFBC103916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3394" y="2526328"/>
                <a:ext cx="3378200" cy="1879600"/>
              </a:xfrm>
              <a:prstGeom prst="rect">
                <a:avLst/>
              </a:prstGeom>
            </p:spPr>
          </p:pic>
          <p:pic>
            <p:nvPicPr>
              <p:cNvPr id="19" name="圖片 18">
                <a:extLst>
                  <a:ext uri="{FF2B5EF4-FFF2-40B4-BE49-F238E27FC236}">
                    <a16:creationId xmlns:a16="http://schemas.microsoft.com/office/drawing/2014/main" id="{47689D71-3D97-3645-A01B-F73444594C2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6259" r="81183"/>
              <a:stretch/>
            </p:blipFill>
            <p:spPr>
              <a:xfrm>
                <a:off x="4611594" y="2526328"/>
                <a:ext cx="424249" cy="1879600"/>
              </a:xfrm>
              <a:prstGeom prst="rect">
                <a:avLst/>
              </a:prstGeom>
            </p:spPr>
          </p:pic>
        </p:grp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2C4F9FD2-F6B2-E842-9330-9A13A4777774}"/>
                </a:ext>
              </a:extLst>
            </p:cNvPr>
            <p:cNvSpPr txBox="1"/>
            <p:nvPr/>
          </p:nvSpPr>
          <p:spPr>
            <a:xfrm>
              <a:off x="6693275" y="1916727"/>
              <a:ext cx="832596" cy="1041626"/>
            </a:xfrm>
            <a:prstGeom prst="rect">
              <a:avLst/>
            </a:prstGeom>
            <a:solidFill>
              <a:srgbClr val="1F1F1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endParaRPr kumimoji="1" lang="zh-TW" altLang="en-US" dirty="0"/>
            </a:p>
          </p:txBody>
        </p:sp>
      </p:grp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E75B3E2D-B22B-014D-9322-D294D68A5082}"/>
              </a:ext>
            </a:extLst>
          </p:cNvPr>
          <p:cNvSpPr txBox="1"/>
          <p:nvPr/>
        </p:nvSpPr>
        <p:spPr>
          <a:xfrm>
            <a:off x="7744968" y="1973439"/>
            <a:ext cx="3968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 TSS values differ.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and X2 share the same gene set.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EE11C0C-43FA-384B-9A58-0178B840351F}"/>
              </a:ext>
            </a:extLst>
          </p:cNvPr>
          <p:cNvSpPr txBox="1"/>
          <p:nvPr/>
        </p:nvSpPr>
        <p:spPr>
          <a:xfrm>
            <a:off x="7744968" y="5412551"/>
            <a:ext cx="4285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TSS_start</a:t>
            </a:r>
            <a:r>
              <a:rPr kumimoji="1"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min(TSS_start_X1,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TSS_start_X2</a:t>
            </a:r>
            <a:r>
              <a:rPr kumimoji="1"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TSS_end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max(TSS_end_X1, TSS_end_X2)</a:t>
            </a:r>
          </a:p>
        </p:txBody>
      </p:sp>
      <p:sp>
        <p:nvSpPr>
          <p:cNvPr id="31" name="投影片編號版面配置區 30">
            <a:extLst>
              <a:ext uri="{FF2B5EF4-FFF2-40B4-BE49-F238E27FC236}">
                <a16:creationId xmlns:a16="http://schemas.microsoft.com/office/drawing/2014/main" id="{BAA1F6E5-DA45-2342-AB9A-5920B869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6133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9" grpId="1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1366CB-61D9-0F48-A190-2AC8392B7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– Reference Gene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76EC9547-7445-FC4E-8190-539FF312904D}"/>
              </a:ext>
            </a:extLst>
          </p:cNvPr>
          <p:cNvGrpSpPr/>
          <p:nvPr/>
        </p:nvGrpSpPr>
        <p:grpSpPr>
          <a:xfrm>
            <a:off x="417605" y="1827080"/>
            <a:ext cx="7126195" cy="3784826"/>
            <a:chOff x="81429" y="1898798"/>
            <a:chExt cx="7462371" cy="3748966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D505A14C-6A7B-4746-A318-677788D53F7F}"/>
                </a:ext>
              </a:extLst>
            </p:cNvPr>
            <p:cNvGrpSpPr/>
            <p:nvPr/>
          </p:nvGrpSpPr>
          <p:grpSpPr>
            <a:xfrm>
              <a:off x="81429" y="1898798"/>
              <a:ext cx="7462371" cy="3748966"/>
              <a:chOff x="1233394" y="2526328"/>
              <a:chExt cx="3802449" cy="1879600"/>
            </a:xfrm>
          </p:grpSpPr>
          <p:pic>
            <p:nvPicPr>
              <p:cNvPr id="17" name="圖片 16">
                <a:extLst>
                  <a:ext uri="{FF2B5EF4-FFF2-40B4-BE49-F238E27FC236}">
                    <a16:creationId xmlns:a16="http://schemas.microsoft.com/office/drawing/2014/main" id="{0749507C-9651-824D-9B1A-EFBC103916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3394" y="2526328"/>
                <a:ext cx="3378200" cy="1879600"/>
              </a:xfrm>
              <a:prstGeom prst="rect">
                <a:avLst/>
              </a:prstGeom>
            </p:spPr>
          </p:pic>
          <p:pic>
            <p:nvPicPr>
              <p:cNvPr id="19" name="圖片 18">
                <a:extLst>
                  <a:ext uri="{FF2B5EF4-FFF2-40B4-BE49-F238E27FC236}">
                    <a16:creationId xmlns:a16="http://schemas.microsoft.com/office/drawing/2014/main" id="{47689D71-3D97-3645-A01B-F73444594C2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6259" r="81183"/>
              <a:stretch/>
            </p:blipFill>
            <p:spPr>
              <a:xfrm>
                <a:off x="4611594" y="2526328"/>
                <a:ext cx="424249" cy="1879600"/>
              </a:xfrm>
              <a:prstGeom prst="rect">
                <a:avLst/>
              </a:prstGeom>
            </p:spPr>
          </p:pic>
        </p:grp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2C4F9FD2-F6B2-E842-9330-9A13A4777774}"/>
                </a:ext>
              </a:extLst>
            </p:cNvPr>
            <p:cNvSpPr txBox="1"/>
            <p:nvPr/>
          </p:nvSpPr>
          <p:spPr>
            <a:xfrm>
              <a:off x="6693275" y="1916727"/>
              <a:ext cx="832596" cy="1041626"/>
            </a:xfrm>
            <a:prstGeom prst="rect">
              <a:avLst/>
            </a:prstGeom>
            <a:solidFill>
              <a:srgbClr val="1F1F1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endParaRPr kumimoji="1" lang="zh-TW" altLang="en-US" dirty="0"/>
            </a:p>
          </p:txBody>
        </p:sp>
      </p:grp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87AEC1EA-BBFA-C941-9D9B-7C67D4BB4286}"/>
              </a:ext>
            </a:extLst>
          </p:cNvPr>
          <p:cNvSpPr txBox="1"/>
          <p:nvPr/>
        </p:nvSpPr>
        <p:spPr>
          <a:xfrm>
            <a:off x="7744968" y="3264719"/>
            <a:ext cx="3968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TW" dirty="0"/>
              <a:t>Therefore, all three cell lines should share the same gene set.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49368DE-1E84-634E-B4FE-7CCDFA2DB928}"/>
              </a:ext>
            </a:extLst>
          </p:cNvPr>
          <p:cNvSpPr txBox="1"/>
          <p:nvPr/>
        </p:nvSpPr>
        <p:spPr>
          <a:xfrm>
            <a:off x="7744968" y="4385896"/>
            <a:ext cx="3968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X1, X2 + X3 = reference chr1-22 gene set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627B418-E69F-A347-ADCB-19D3D41BE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6</a:t>
            </a:fld>
            <a:endParaRPr kumimoji="1"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C44C807-F466-BB4C-BA79-3F7795A01929}"/>
              </a:ext>
            </a:extLst>
          </p:cNvPr>
          <p:cNvSpPr txBox="1"/>
          <p:nvPr/>
        </p:nvSpPr>
        <p:spPr>
          <a:xfrm>
            <a:off x="7744968" y="1973439"/>
            <a:ext cx="3968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 TSS values differ.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and X2 share the same gene set.</a:t>
            </a:r>
          </a:p>
        </p:txBody>
      </p:sp>
    </p:spTree>
    <p:extLst>
      <p:ext uri="{BB962C8B-B14F-4D97-AF65-F5344CB8AC3E}">
        <p14:creationId xmlns:p14="http://schemas.microsoft.com/office/powerpoint/2010/main" val="96361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041A38-3FAE-6844-BE9F-DBC4B2F90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– Gene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endParaRPr kumimoji="1" lang="zh-TW" altLang="en-US" dirty="0"/>
          </a:p>
        </p:txBody>
      </p:sp>
      <p:sp>
        <p:nvSpPr>
          <p:cNvPr id="14" name="投影片編號版面配置區 13">
            <a:extLst>
              <a:ext uri="{FF2B5EF4-FFF2-40B4-BE49-F238E27FC236}">
                <a16:creationId xmlns:a16="http://schemas.microsoft.com/office/drawing/2014/main" id="{C1E8B8FC-CB6F-BE4D-8144-1E7EBA125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7</a:t>
            </a:fld>
            <a:endParaRPr kumimoji="1" lang="zh-TW" altLang="en-US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17A20991-C882-0149-BE70-8D938579F76B}"/>
              </a:ext>
            </a:extLst>
          </p:cNvPr>
          <p:cNvGrpSpPr/>
          <p:nvPr/>
        </p:nvGrpSpPr>
        <p:grpSpPr>
          <a:xfrm>
            <a:off x="1548319" y="2029277"/>
            <a:ext cx="8914995" cy="2778565"/>
            <a:chOff x="514350" y="1804961"/>
            <a:chExt cx="11163300" cy="3645932"/>
          </a:xfrm>
        </p:grpSpPr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F838BE9A-D842-644F-8AE3-BD1B2DBB0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4350" y="2174293"/>
              <a:ext cx="11163300" cy="3276600"/>
            </a:xfrm>
            <a:prstGeom prst="rect">
              <a:avLst/>
            </a:prstGeom>
          </p:spPr>
        </p:pic>
        <p:cxnSp>
          <p:nvCxnSpPr>
            <p:cNvPr id="26" name="肘形接點 25">
              <a:extLst>
                <a:ext uri="{FF2B5EF4-FFF2-40B4-BE49-F238E27FC236}">
                  <a16:creationId xmlns:a16="http://schemas.microsoft.com/office/drawing/2014/main" id="{378C673D-50EE-C44E-A7B4-CA0974BFFE1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450689" y="2996620"/>
              <a:ext cx="1644653" cy="12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072AF091-01E0-1C48-B9B0-848C13E16A2A}"/>
                </a:ext>
              </a:extLst>
            </p:cNvPr>
            <p:cNvSpPr txBox="1"/>
            <p:nvPr/>
          </p:nvSpPr>
          <p:spPr>
            <a:xfrm>
              <a:off x="5019356" y="1804961"/>
              <a:ext cx="507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/>
                <a:t>TSS</a:t>
              </a:r>
              <a:endParaRPr kumimoji="1" lang="zh-TW" altLang="en-US" dirty="0"/>
            </a:p>
          </p:txBody>
        </p:sp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6C940B7-8326-534F-856C-BA35B7EB1C68}"/>
              </a:ext>
            </a:extLst>
          </p:cNvPr>
          <p:cNvSpPr txBox="1"/>
          <p:nvPr/>
        </p:nvSpPr>
        <p:spPr>
          <a:xfrm>
            <a:off x="1924792" y="4331499"/>
            <a:ext cx="621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RNA</a:t>
            </a:r>
            <a:endParaRPr kumimoji="1"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左大括弧 7">
            <a:extLst>
              <a:ext uri="{FF2B5EF4-FFF2-40B4-BE49-F238E27FC236}">
                <a16:creationId xmlns:a16="http://schemas.microsoft.com/office/drawing/2014/main" id="{21DBB341-B0A2-1145-8654-637FA42F4AAE}"/>
              </a:ext>
            </a:extLst>
          </p:cNvPr>
          <p:cNvSpPr/>
          <p:nvPr/>
        </p:nvSpPr>
        <p:spPr>
          <a:xfrm rot="5400000">
            <a:off x="4391147" y="1456723"/>
            <a:ext cx="200072" cy="1468152"/>
          </a:xfrm>
          <a:prstGeom prst="leftBrace">
            <a:avLst>
              <a:gd name="adj1" fmla="val 8333"/>
              <a:gd name="adj2" fmla="val 48942"/>
            </a:avLst>
          </a:prstGeom>
          <a:noFill/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5F710C3-61B9-A144-83CD-58E6B04E76C5}"/>
              </a:ext>
            </a:extLst>
          </p:cNvPr>
          <p:cNvSpPr txBox="1"/>
          <p:nvPr/>
        </p:nvSpPr>
        <p:spPr>
          <a:xfrm>
            <a:off x="1548319" y="4968093"/>
            <a:ext cx="93153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regulatory signals cluster near the promoter/TSS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(ENCODE Project Consortium et al., 2020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we need to set and 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optimal window size.</a:t>
            </a:r>
            <a:endParaRPr kumimoji="1"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65BE0C-FE11-6840-BB27-9D98E27FE161}"/>
              </a:ext>
            </a:extLst>
          </p:cNvPr>
          <p:cNvSpPr/>
          <p:nvPr/>
        </p:nvSpPr>
        <p:spPr>
          <a:xfrm>
            <a:off x="3816479" y="1690688"/>
            <a:ext cx="13452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 size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064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041A38-3FAE-6844-BE9F-DBC4B2F90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– The Optimal Window Size</a:t>
            </a:r>
            <a:endParaRPr kumimoji="1" lang="zh-TW" altLang="en-US" dirty="0"/>
          </a:p>
        </p:txBody>
      </p:sp>
      <p:sp>
        <p:nvSpPr>
          <p:cNvPr id="14" name="投影片編號版面配置區 13">
            <a:extLst>
              <a:ext uri="{FF2B5EF4-FFF2-40B4-BE49-F238E27FC236}">
                <a16:creationId xmlns:a16="http://schemas.microsoft.com/office/drawing/2014/main" id="{C1E8B8FC-CB6F-BE4D-8144-1E7EBA125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8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C4CEE7F-7060-FE48-A3D0-FC67BF15A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002" y="1373282"/>
            <a:ext cx="6919995" cy="516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649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1366CB-61D9-0F48-A190-2AC8392B7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– Gene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5222202-74D7-B74A-B668-1FEF215DE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5916"/>
            <a:ext cx="4351022" cy="4458455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8569D80A-1C68-1C4D-A048-C32E4F82CAE7}"/>
              </a:ext>
            </a:extLst>
          </p:cNvPr>
          <p:cNvSpPr txBox="1"/>
          <p:nvPr/>
        </p:nvSpPr>
        <p:spPr>
          <a:xfrm>
            <a:off x="6817505" y="2091290"/>
            <a:ext cx="39683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Roughly 50% zeros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F2FAA77-F180-1944-8AFB-3BC6E8943F61}"/>
              </a:ext>
            </a:extLst>
          </p:cNvPr>
          <p:cNvSpPr txBox="1"/>
          <p:nvPr/>
        </p:nvSpPr>
        <p:spPr>
          <a:xfrm>
            <a:off x="7129976" y="3507555"/>
            <a:ext cx="4702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 transformation (e.g., log1p/Box-Cox/yeo-Johnson/rank) to stabilize gradients and improve learnability.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9F97CFA-8715-3542-9343-A8D766397412}"/>
              </a:ext>
            </a:extLst>
          </p:cNvPr>
          <p:cNvSpPr txBox="1"/>
          <p:nvPr/>
        </p:nvSpPr>
        <p:spPr>
          <a:xfrm>
            <a:off x="7129976" y="2428410"/>
            <a:ext cx="4612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two-stage approach (classifier for zero vs. non-zero, then regression on positives).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投影片編號版面配置區 12">
            <a:extLst>
              <a:ext uri="{FF2B5EF4-FFF2-40B4-BE49-F238E27FC236}">
                <a16:creationId xmlns:a16="http://schemas.microsoft.com/office/drawing/2014/main" id="{FC8EA9D4-1971-5F4A-94F3-A9F425ACF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9</a:t>
            </a:fld>
            <a:endParaRPr kumimoji="1"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D7EE6B1-B51C-324B-9ED8-4C7CE3397599}"/>
              </a:ext>
            </a:extLst>
          </p:cNvPr>
          <p:cNvSpPr txBox="1"/>
          <p:nvPr/>
        </p:nvSpPr>
        <p:spPr>
          <a:xfrm>
            <a:off x="7129976" y="4863699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gex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kumimoji="1"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rank_gex</a:t>
            </a:r>
            <a:endParaRPr kumimoji="1"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F88FE7-95A6-D04D-998C-3BBC2CF86E5C}"/>
              </a:ext>
            </a:extLst>
          </p:cNvPr>
          <p:cNvSpPr/>
          <p:nvPr/>
        </p:nvSpPr>
        <p:spPr>
          <a:xfrm>
            <a:off x="6817505" y="3167074"/>
            <a:ext cx="2698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Skewed, long-tailed 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gex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608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14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1366CB-61D9-0F48-A190-2AC8392B7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– Gene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投影片編號版面配置區 12">
            <a:extLst>
              <a:ext uri="{FF2B5EF4-FFF2-40B4-BE49-F238E27FC236}">
                <a16:creationId xmlns:a16="http://schemas.microsoft.com/office/drawing/2014/main" id="{FC8EA9D4-1971-5F4A-94F3-A9F425ACF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10</a:t>
            </a:fld>
            <a:endParaRPr kumimoji="1"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5C7EE2A-F3BA-694A-B2EB-04BFA62DA8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85"/>
          <a:stretch/>
        </p:blipFill>
        <p:spPr>
          <a:xfrm>
            <a:off x="2580166" y="1913766"/>
            <a:ext cx="6169632" cy="4045387"/>
          </a:xfrm>
          <a:prstGeom prst="rect">
            <a:avLst/>
          </a:prstGeom>
        </p:spPr>
      </p:pic>
      <p:sp>
        <p:nvSpPr>
          <p:cNvPr id="5" name="左中括弧 4">
            <a:extLst>
              <a:ext uri="{FF2B5EF4-FFF2-40B4-BE49-F238E27FC236}">
                <a16:creationId xmlns:a16="http://schemas.microsoft.com/office/drawing/2014/main" id="{A28C5D39-2A55-0D4A-9863-910A6E33A19D}"/>
              </a:ext>
            </a:extLst>
          </p:cNvPr>
          <p:cNvSpPr/>
          <p:nvPr/>
        </p:nvSpPr>
        <p:spPr>
          <a:xfrm rot="5400000">
            <a:off x="5996491" y="524368"/>
            <a:ext cx="131005" cy="2759331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D6092DC-33A3-7346-96EF-6510172B18E1}"/>
              </a:ext>
            </a:extLst>
          </p:cNvPr>
          <p:cNvSpPr txBox="1"/>
          <p:nvPr/>
        </p:nvSpPr>
        <p:spPr>
          <a:xfrm>
            <a:off x="5636684" y="1544806"/>
            <a:ext cx="850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0.0033</a:t>
            </a:r>
            <a:endParaRPr kumimoji="1"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358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1366CB-61D9-0F48-A190-2AC8392B7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–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Chromatin Landscape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9BFE8354-9B17-664D-AD8A-79108FF91288}"/>
              </a:ext>
            </a:extLst>
          </p:cNvPr>
          <p:cNvGrpSpPr/>
          <p:nvPr/>
        </p:nvGrpSpPr>
        <p:grpSpPr>
          <a:xfrm>
            <a:off x="675640" y="1385888"/>
            <a:ext cx="5257800" cy="5167312"/>
            <a:chOff x="838200" y="1690688"/>
            <a:chExt cx="4920992" cy="4499623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4D839E08-2ABC-BF4A-80F4-FFD8BF2AA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1690688"/>
              <a:ext cx="4920992" cy="4499623"/>
            </a:xfrm>
            <a:prstGeom prst="rect">
              <a:avLst/>
            </a:prstGeom>
          </p:spPr>
        </p:pic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652EF4A8-06C9-3B4D-BE5B-A1C5E74B9949}"/>
                </a:ext>
              </a:extLst>
            </p:cNvPr>
            <p:cNvSpPr txBox="1"/>
            <p:nvPr/>
          </p:nvSpPr>
          <p:spPr>
            <a:xfrm>
              <a:off x="1041721" y="1886673"/>
              <a:ext cx="254643" cy="7407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kumimoji="1" lang="zh-TW" altLang="en-US" dirty="0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6B9DFC4E-0AED-9B46-9705-62AF83745921}"/>
                </a:ext>
              </a:extLst>
            </p:cNvPr>
            <p:cNvSpPr txBox="1"/>
            <p:nvPr/>
          </p:nvSpPr>
          <p:spPr>
            <a:xfrm>
              <a:off x="3923819" y="1886673"/>
              <a:ext cx="243068" cy="7407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kumimoji="1" lang="zh-TW" altLang="en-US" dirty="0"/>
            </a:p>
          </p:txBody>
        </p:sp>
      </p:grp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6F3CF6-DA0C-7747-9D12-707039F7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11</a:t>
            </a:fld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95F5A5F-25EC-8B47-A317-08BBEC6A33F3}"/>
              </a:ext>
            </a:extLst>
          </p:cNvPr>
          <p:cNvSpPr txBox="1"/>
          <p:nvPr/>
        </p:nvSpPr>
        <p:spPr>
          <a:xfrm>
            <a:off x="6578600" y="2036306"/>
            <a:ext cx="477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Chromatin signal scales differ across cell lines, indicating potential batch effects.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7FCCA3-D6F7-444F-AB43-3E4EACFEB606}"/>
              </a:ext>
            </a:extLst>
          </p:cNvPr>
          <p:cNvSpPr/>
          <p:nvPr/>
        </p:nvSpPr>
        <p:spPr>
          <a:xfrm>
            <a:off x="6578600" y="3018810"/>
            <a:ext cx="51943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transformations (e.g., log1p, per-track z-scoring, or quantile normalization) to reduce batch effects and improve generalization.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260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1366CB-61D9-0F48-A190-2AC8392B7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–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Chromatin Landscape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6F3CF6-DA0C-7747-9D12-707039F7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12</a:t>
            </a:fld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95F5A5F-25EC-8B47-A317-08BBEC6A33F3}"/>
              </a:ext>
            </a:extLst>
          </p:cNvPr>
          <p:cNvSpPr txBox="1"/>
          <p:nvPr/>
        </p:nvSpPr>
        <p:spPr>
          <a:xfrm>
            <a:off x="6578600" y="2036306"/>
            <a:ext cx="477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Chromatin signal scales differ across cell lines, indicating potential batch effects.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7FCCA3-D6F7-444F-AB43-3E4EACFEB606}"/>
              </a:ext>
            </a:extLst>
          </p:cNvPr>
          <p:cNvSpPr/>
          <p:nvPr/>
        </p:nvSpPr>
        <p:spPr>
          <a:xfrm>
            <a:off x="6578600" y="3018810"/>
            <a:ext cx="51943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transformations (e.g., log1p, per-track z-scoring, or quantile normalization) to reduce batch effects and improve generalization.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6A3E54-EBDE-3841-B13C-B80CFF6FCA1A}"/>
              </a:ext>
            </a:extLst>
          </p:cNvPr>
          <p:cNvSpPr/>
          <p:nvPr/>
        </p:nvSpPr>
        <p:spPr>
          <a:xfrm>
            <a:off x="6578600" y="4391342"/>
            <a:ext cx="26911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log1p transform - &gt; z-score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94BDBB9-83B3-2D4E-9B35-47F1D8E6D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98" y="1952025"/>
            <a:ext cx="6313502" cy="371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23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1366CB-61D9-0F48-A190-2AC8392B7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–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BigWig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vs. BED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6F3CF6-DA0C-7747-9D12-707039F7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13</a:t>
            </a:fld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95F5A5F-25EC-8B47-A317-08BBEC6A33F3}"/>
              </a:ext>
            </a:extLst>
          </p:cNvPr>
          <p:cNvSpPr txBox="1"/>
          <p:nvPr/>
        </p:nvSpPr>
        <p:spPr>
          <a:xfrm>
            <a:off x="838200" y="1690688"/>
            <a:ext cx="91110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BigWig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is a continuous signal track that stores a value per genomic position.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BED file lists genomic regions with the mean signal value.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DCF8D21-501D-AD4D-B5B7-7004DE483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947" y="2614018"/>
            <a:ext cx="5230106" cy="3924894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57EB12E6-09BC-AA47-88FC-2605A2615DF0}"/>
              </a:ext>
            </a:extLst>
          </p:cNvPr>
          <p:cNvSpPr txBox="1"/>
          <p:nvPr/>
        </p:nvSpPr>
        <p:spPr>
          <a:xfrm>
            <a:off x="8928866" y="4229807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Both &gt; </a:t>
            </a:r>
            <a:r>
              <a:rPr kumimoji="1" lang="en-US" altLang="zh-TW" dirty="0" err="1">
                <a:solidFill>
                  <a:srgbClr val="FF0000"/>
                </a:solidFill>
              </a:rPr>
              <a:t>BigWig</a:t>
            </a:r>
            <a:r>
              <a:rPr kumimoji="1" lang="en-US" altLang="zh-TW" dirty="0">
                <a:solidFill>
                  <a:srgbClr val="FF0000"/>
                </a:solidFill>
              </a:rPr>
              <a:t> &gt; BED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483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1366CB-61D9-0F48-A190-2AC8392B7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Engineer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6F3CF6-DA0C-7747-9D12-707039F7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14</a:t>
            </a:fld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95F5A5F-25EC-8B47-A317-08BBEC6A33F3}"/>
              </a:ext>
            </a:extLst>
          </p:cNvPr>
          <p:cNvSpPr txBox="1"/>
          <p:nvPr/>
        </p:nvSpPr>
        <p:spPr>
          <a:xfrm>
            <a:off x="838200" y="1690688"/>
            <a:ext cx="1014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BigWig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BED features: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signal_sum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signal_mean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signal_std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signal_min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signal_max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signal_diff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5077C814-3059-B244-9E4D-5313E0081A60}"/>
              </a:ext>
            </a:extLst>
          </p:cNvPr>
          <p:cNvGrpSpPr/>
          <p:nvPr/>
        </p:nvGrpSpPr>
        <p:grpSpPr>
          <a:xfrm>
            <a:off x="1568450" y="2584450"/>
            <a:ext cx="9055100" cy="3771900"/>
            <a:chOff x="1568450" y="2413000"/>
            <a:chExt cx="9055100" cy="3771900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E39D370B-DC6F-BE41-BC55-7D7409485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8450" y="2413000"/>
              <a:ext cx="9055100" cy="2032000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F773E72-3961-B043-AF84-90D1298E3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8450" y="4445000"/>
              <a:ext cx="9055100" cy="1739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817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1366CB-61D9-0F48-A190-2AC8392B7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6F3CF6-DA0C-7747-9D12-707039F7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15</a:t>
            </a:fld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95F5A5F-25EC-8B47-A317-08BBEC6A33F3}"/>
              </a:ext>
            </a:extLst>
          </p:cNvPr>
          <p:cNvSpPr txBox="1"/>
          <p:nvPr/>
        </p:nvSpPr>
        <p:spPr>
          <a:xfrm>
            <a:off x="838199" y="1690687"/>
            <a:ext cx="106532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data are tabular, and chromatin-derived features can exhibit non-linear interactions.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used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both binary classification and regression because 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 captures non-linearities and feature interactions,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trains fast and scales well,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more interpretable than deep nets (feature importance/SHAP), and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heterogeneous features and missing values with minimal preprocessing.</a:t>
            </a:r>
          </a:p>
        </p:txBody>
      </p:sp>
    </p:spTree>
    <p:extLst>
      <p:ext uri="{BB962C8B-B14F-4D97-AF65-F5344CB8AC3E}">
        <p14:creationId xmlns:p14="http://schemas.microsoft.com/office/powerpoint/2010/main" val="2694565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E0F5E8-789A-C94A-B68C-D693D8383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Training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983E77-4F58-A64D-A047-F5CDA5D8F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3974" y="2160723"/>
            <a:ext cx="9709826" cy="2966835"/>
          </a:xfrm>
        </p:spPr>
        <p:txBody>
          <a:bodyPr>
            <a:normAutofit/>
          </a:bodyPr>
          <a:lstStyle/>
          <a:p>
            <a:pPr algn="just"/>
            <a:r>
              <a:rPr kumimoji="1"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line</a:t>
            </a:r>
          </a:p>
          <a:p>
            <a:pPr algn="just"/>
            <a:r>
              <a:rPr kumimoji="1"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Chromosome</a:t>
            </a:r>
          </a:p>
          <a:p>
            <a:pPr marL="0" indent="0">
              <a:buNone/>
            </a:pPr>
            <a:endParaRPr kumimoji="1"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0B34A4-2B4A-8A4F-AF93-8E9A290B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16</a:t>
            </a:fld>
            <a:endParaRPr kumimoji="1"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7DB1D51-D409-4440-99DA-BFBC70535AB8}"/>
              </a:ext>
            </a:extLst>
          </p:cNvPr>
          <p:cNvSpPr txBox="1"/>
          <p:nvPr/>
        </p:nvSpPr>
        <p:spPr>
          <a:xfrm>
            <a:off x="838200" y="1688763"/>
            <a:ext cx="6506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task is about cross-chromosome and cross-cell lines prediction!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57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E0F5E8-789A-C94A-B68C-D693D8383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Training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- Cell line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983E77-4F58-A64D-A047-F5CDA5D8F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709826" cy="2966835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Pooled training (mix all cell lines): </a:t>
            </a:r>
          </a:p>
          <a:p>
            <a:pPr marL="457200" lvl="1" indent="0"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Train/validate on the combined dataset from all cell lines.</a:t>
            </a:r>
          </a:p>
          <a:p>
            <a:pPr marL="457200" lvl="1" indent="0">
              <a:buNone/>
            </a:pP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Within–cell line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457200" lvl="1" indent="0"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validate on the same cell line (no cross-line mixing).</a:t>
            </a:r>
          </a:p>
          <a:p>
            <a:pPr marL="457200" lvl="1" indent="0">
              <a:buNone/>
            </a:pP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Cross–cell line: </a:t>
            </a:r>
          </a:p>
          <a:p>
            <a:pPr marL="457200" lvl="1" indent="0"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on one cell line and validate on a different cell line.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0B34A4-2B4A-8A4F-AF93-8E9A290B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17</a:t>
            </a:fld>
            <a:endParaRPr kumimoji="1"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379A2C8-E21D-0347-8563-3F2B1C420A93}"/>
              </a:ext>
            </a:extLst>
          </p:cNvPr>
          <p:cNvSpPr txBox="1"/>
          <p:nvPr/>
        </p:nvSpPr>
        <p:spPr>
          <a:xfrm>
            <a:off x="2769480" y="4860605"/>
            <a:ext cx="66530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Pooled training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Captures the most general, cross–cell line patterns.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Within–cell-line training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Emphasizes cell line–specific patterns.</a:t>
            </a:r>
          </a:p>
        </p:txBody>
      </p:sp>
    </p:spTree>
    <p:extLst>
      <p:ext uri="{BB962C8B-B14F-4D97-AF65-F5344CB8AC3E}">
        <p14:creationId xmlns:p14="http://schemas.microsoft.com/office/powerpoint/2010/main" val="3830715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E0F5E8-789A-C94A-B68C-D693D8383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Training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- Chromosome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983E77-4F58-A64D-A047-F5CDA5D8F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leave-one-chromosome-out (LOCO). For each held-out chromosome, perform k-fold CV on the remaining chromosomes for both binary classification and regression.</a:t>
            </a:r>
          </a:p>
          <a:p>
            <a:pPr marL="0" indent="0">
              <a:buNone/>
            </a:pP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0B34A4-2B4A-8A4F-AF93-8E9A290B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18</a:t>
            </a:fld>
            <a:endParaRPr kumimoji="1" lang="zh-TW" altLang="en-US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BD41D295-FF32-784A-9FA7-DCF9136ED7D8}"/>
              </a:ext>
            </a:extLst>
          </p:cNvPr>
          <p:cNvGrpSpPr/>
          <p:nvPr/>
        </p:nvGrpSpPr>
        <p:grpSpPr>
          <a:xfrm>
            <a:off x="2921224" y="3206652"/>
            <a:ext cx="2819397" cy="954090"/>
            <a:chOff x="887104" y="3108881"/>
            <a:chExt cx="2819397" cy="954090"/>
          </a:xfrm>
        </p:grpSpPr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8A9CFE33-4468-194B-B442-12EA39F22360}"/>
                </a:ext>
              </a:extLst>
            </p:cNvPr>
            <p:cNvSpPr txBox="1"/>
            <p:nvPr/>
          </p:nvSpPr>
          <p:spPr>
            <a:xfrm>
              <a:off x="887104" y="3108881"/>
              <a:ext cx="9689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Test </a:t>
              </a:r>
              <a:r>
                <a:rPr kumimoji="1" lang="en-US" altLang="zh-TW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chr</a:t>
              </a:r>
              <a:endPara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F6A5FA36-255E-CE47-B460-904D9C926767}"/>
                </a:ext>
              </a:extLst>
            </p:cNvPr>
            <p:cNvSpPr/>
            <p:nvPr/>
          </p:nvSpPr>
          <p:spPr>
            <a:xfrm>
              <a:off x="2123361" y="3218484"/>
              <a:ext cx="382137" cy="1501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02E084F9-8BF9-1E49-93E8-7BCE6A60E58E}"/>
                </a:ext>
              </a:extLst>
            </p:cNvPr>
            <p:cNvSpPr/>
            <p:nvPr/>
          </p:nvSpPr>
          <p:spPr>
            <a:xfrm>
              <a:off x="2123362" y="3535255"/>
              <a:ext cx="1583139" cy="1501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FCAAC2C3-2812-D345-B232-30ED356E5FB8}"/>
                </a:ext>
              </a:extLst>
            </p:cNvPr>
            <p:cNvSpPr txBox="1"/>
            <p:nvPr/>
          </p:nvSpPr>
          <p:spPr>
            <a:xfrm>
              <a:off x="901887" y="3391631"/>
              <a:ext cx="9689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 </a:t>
              </a:r>
              <a:r>
                <a:rPr kumimoji="1" lang="en-US" altLang="zh-TW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chrs</a:t>
              </a:r>
              <a:endPara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131DDD91-663D-CF45-A60E-B2B12BE20E6C}"/>
                </a:ext>
              </a:extLst>
            </p:cNvPr>
            <p:cNvSpPr txBox="1"/>
            <p:nvPr/>
          </p:nvSpPr>
          <p:spPr>
            <a:xfrm>
              <a:off x="901887" y="3693639"/>
              <a:ext cx="12214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 </a:t>
              </a:r>
              <a:r>
                <a:rPr kumimoji="1" lang="en-US" altLang="zh-TW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chrs</a:t>
              </a:r>
              <a:endPara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4F12EEE2-25B5-B441-A090-C791DB2A9B46}"/>
                </a:ext>
              </a:extLst>
            </p:cNvPr>
            <p:cNvSpPr/>
            <p:nvPr/>
          </p:nvSpPr>
          <p:spPr>
            <a:xfrm>
              <a:off x="2123361" y="3836415"/>
              <a:ext cx="1583139" cy="15012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4FB7F145-8156-004D-92C0-3AB5199CB4BD}"/>
              </a:ext>
            </a:extLst>
          </p:cNvPr>
          <p:cNvSpPr txBox="1"/>
          <p:nvPr/>
        </p:nvSpPr>
        <p:spPr>
          <a:xfrm>
            <a:off x="1862910" y="4101587"/>
            <a:ext cx="8666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For both models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B18B6A62-E3AA-674B-AA1B-3481974AC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224" y="4185115"/>
            <a:ext cx="7899400" cy="1485900"/>
          </a:xfrm>
          <a:prstGeom prst="rect">
            <a:avLst/>
          </a:prstGeom>
        </p:spPr>
      </p:pic>
      <p:sp>
        <p:nvSpPr>
          <p:cNvPr id="55" name="左右大括弧 54">
            <a:extLst>
              <a:ext uri="{FF2B5EF4-FFF2-40B4-BE49-F238E27FC236}">
                <a16:creationId xmlns:a16="http://schemas.microsoft.com/office/drawing/2014/main" id="{C70C63DE-0279-A045-B4E5-DC1B51FF2400}"/>
              </a:ext>
            </a:extLst>
          </p:cNvPr>
          <p:cNvSpPr/>
          <p:nvPr/>
        </p:nvSpPr>
        <p:spPr>
          <a:xfrm>
            <a:off x="1367266" y="3206651"/>
            <a:ext cx="9837547" cy="2812121"/>
          </a:xfrm>
          <a:prstGeom prst="brace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6" name="左右括弧 55">
            <a:extLst>
              <a:ext uri="{FF2B5EF4-FFF2-40B4-BE49-F238E27FC236}">
                <a16:creationId xmlns:a16="http://schemas.microsoft.com/office/drawing/2014/main" id="{B3A72693-590C-B944-8993-F9AF3B1E257E}"/>
              </a:ext>
            </a:extLst>
          </p:cNvPr>
          <p:cNvSpPr/>
          <p:nvPr/>
        </p:nvSpPr>
        <p:spPr>
          <a:xfrm>
            <a:off x="2729554" y="3177583"/>
            <a:ext cx="8091069" cy="2760430"/>
          </a:xfrm>
          <a:prstGeom prst="bracket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2706C3FF-2048-1D41-926B-1303D510DCD5}"/>
              </a:ext>
            </a:extLst>
          </p:cNvPr>
          <p:cNvSpPr txBox="1"/>
          <p:nvPr/>
        </p:nvSpPr>
        <p:spPr>
          <a:xfrm>
            <a:off x="400318" y="4185115"/>
            <a:ext cx="978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x21 For each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329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1366CB-61D9-0F48-A190-2AC8392B7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selection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6F3CF6-DA0C-7747-9D12-707039F7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19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E929BB3-C699-D54F-A445-9C055308B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006" y="1690687"/>
            <a:ext cx="7213600" cy="4470400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CB61CD5A-36E0-CD46-BCDA-CC537F76D940}"/>
              </a:ext>
            </a:extLst>
          </p:cNvPr>
          <p:cNvSpPr/>
          <p:nvPr/>
        </p:nvSpPr>
        <p:spPr>
          <a:xfrm>
            <a:off x="5636525" y="2101755"/>
            <a:ext cx="122830" cy="10918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8199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1366CB-61D9-0F48-A190-2AC8392B7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Strategy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selection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投影片編號版面配置區 12">
            <a:extLst>
              <a:ext uri="{FF2B5EF4-FFF2-40B4-BE49-F238E27FC236}">
                <a16:creationId xmlns:a16="http://schemas.microsoft.com/office/drawing/2014/main" id="{FC8EA9D4-1971-5F4A-94F3-A9F425ACF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20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96B5FC1-0569-F948-849B-BB05EC3CF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564" y="1586927"/>
            <a:ext cx="7792872" cy="464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374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E0F5E8-789A-C94A-B68C-D693D8383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stacking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983E77-4F58-A64D-A047-F5CDA5D8F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predictions are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stacked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the three setups.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X1+X2 pooled: mix X1+X2 for train/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X1-only: train/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X1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X2-only: train/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X2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0B34A4-2B4A-8A4F-AF93-8E9A290B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62640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A7679C-C96C-1C45-AD05-D0D8E39E7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Result Interpretation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CB56E878-85C2-4B45-93B3-59459765E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93263" r="-96"/>
          <a:stretch/>
        </p:blipFill>
        <p:spPr>
          <a:xfrm>
            <a:off x="178142" y="4558352"/>
            <a:ext cx="6217920" cy="535442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451570-E5BB-9543-8E4D-B754AA001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22</a:t>
            </a:fld>
            <a:endParaRPr kumimoji="1" lang="zh-TW" altLang="en-US"/>
          </a:p>
        </p:txBody>
      </p:sp>
      <p:pic>
        <p:nvPicPr>
          <p:cNvPr id="7" name="內容版面配置區 5">
            <a:extLst>
              <a:ext uri="{FF2B5EF4-FFF2-40B4-BE49-F238E27FC236}">
                <a16:creationId xmlns:a16="http://schemas.microsoft.com/office/drawing/2014/main" id="{0E87E81C-BE6E-4046-A73F-CDD7922ED4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30" b="67329"/>
          <a:stretch/>
        </p:blipFill>
        <p:spPr>
          <a:xfrm>
            <a:off x="151779" y="1937983"/>
            <a:ext cx="6244283" cy="262036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97F05FD-F0A0-5648-9EDD-8F9B6803520E}"/>
              </a:ext>
            </a:extLst>
          </p:cNvPr>
          <p:cNvSpPr/>
          <p:nvPr/>
        </p:nvSpPr>
        <p:spPr>
          <a:xfrm>
            <a:off x="1473958" y="4531056"/>
            <a:ext cx="2142699" cy="300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ED98B45-5A76-A84E-AD02-36209F3D91C2}"/>
              </a:ext>
            </a:extLst>
          </p:cNvPr>
          <p:cNvSpPr txBox="1"/>
          <p:nvPr/>
        </p:nvSpPr>
        <p:spPr>
          <a:xfrm>
            <a:off x="6885503" y="2925001"/>
            <a:ext cx="4024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Chromatin accessibility is a crucial factor to predict the gene expression.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762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A7679C-C96C-1C45-AD05-D0D8E39E7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Question for you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451570-E5BB-9543-8E4D-B754AA001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23</a:t>
            </a:fld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7F05FD-F0A0-5648-9EDD-8F9B6803520E}"/>
              </a:ext>
            </a:extLst>
          </p:cNvPr>
          <p:cNvSpPr/>
          <p:nvPr/>
        </p:nvSpPr>
        <p:spPr>
          <a:xfrm>
            <a:off x="1473958" y="4531056"/>
            <a:ext cx="2142699" cy="300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ED98B45-5A76-A84E-AD02-36209F3D91C2}"/>
              </a:ext>
            </a:extLst>
          </p:cNvPr>
          <p:cNvSpPr txBox="1"/>
          <p:nvPr/>
        </p:nvSpPr>
        <p:spPr>
          <a:xfrm>
            <a:off x="1036144" y="2239887"/>
            <a:ext cx="10317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log1p and z-score have the best performance?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B7A2CA7-B70B-104D-B2A3-DA3ED65B0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382" y="3167595"/>
            <a:ext cx="3814594" cy="227022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086B4D3-5789-4347-B8AF-76C861D7F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541" y="3143639"/>
            <a:ext cx="3864258" cy="229978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EE864DC-584B-A740-9A52-4D1E0580018D}"/>
              </a:ext>
            </a:extLst>
          </p:cNvPr>
          <p:cNvSpPr/>
          <p:nvPr/>
        </p:nvSpPr>
        <p:spPr>
          <a:xfrm>
            <a:off x="8054502" y="3346315"/>
            <a:ext cx="556098" cy="209150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74084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E0F5E8-789A-C94A-B68C-D693D8383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Competitions</a:t>
            </a:r>
            <a:endParaRPr kumimoji="1"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FA6BB8DF-3129-6F44-9CFF-1095FBA5E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3271" y="2996242"/>
            <a:ext cx="5241721" cy="1204619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0B34A4-2B4A-8A4F-AF93-8E9A290B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7070-731C-DC46-B30D-770E746F05FA}" type="slidenum">
              <a:rPr kumimoji="1" lang="zh-TW" altLang="en-US" smtClean="0"/>
              <a:t>24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8C8473C-2F31-4841-B8EB-4BD9AB388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592626"/>
            <a:ext cx="5286793" cy="133975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70378EB-1578-0B49-82D0-B8234F09C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460" y="2859354"/>
            <a:ext cx="5234870" cy="120304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B30AB957-FE43-1A41-8247-DA52339CB9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99" y="4411131"/>
            <a:ext cx="5212729" cy="1197956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16F99C21-CC3A-E343-8277-124546DE1C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2234" y="1612154"/>
            <a:ext cx="4986096" cy="1145873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AC254223-BDF4-2D45-8425-7B1BDC9451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8960" y="4411131"/>
            <a:ext cx="5212726" cy="1197956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6D850563-D4AF-594D-BC05-A878C572CF86}"/>
              </a:ext>
            </a:extLst>
          </p:cNvPr>
          <p:cNvSpPr txBox="1"/>
          <p:nvPr/>
        </p:nvSpPr>
        <p:spPr>
          <a:xfrm>
            <a:off x="4848163" y="5957819"/>
            <a:ext cx="2405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dingyang.wang@uzh.ch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C8292B3A-2F54-1646-89B8-DDB03B9630D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6710" t="16497" r="15915" b="17102"/>
          <a:stretch/>
        </p:blipFill>
        <p:spPr>
          <a:xfrm>
            <a:off x="7405350" y="5713291"/>
            <a:ext cx="1059873" cy="106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092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1522</TotalTime>
  <Words>944</Words>
  <Application>Microsoft Macintosh PowerPoint</Application>
  <PresentationFormat>寬螢幕</PresentationFormat>
  <Paragraphs>155</Paragraphs>
  <Slides>24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0" baseType="lpstr">
      <vt:lpstr>新細明體</vt:lpstr>
      <vt:lpstr>Arial</vt:lpstr>
      <vt:lpstr>Calibri</vt:lpstr>
      <vt:lpstr>Calibri Light</vt:lpstr>
      <vt:lpstr>Times New Roman</vt:lpstr>
      <vt:lpstr>Office 佈景主題</vt:lpstr>
      <vt:lpstr>Prediction of Gene Expression from Chromatin Landscape</vt:lpstr>
      <vt:lpstr>Essential for any project</vt:lpstr>
      <vt:lpstr>Overview the dataset</vt:lpstr>
      <vt:lpstr>EDA - Gene Information</vt:lpstr>
      <vt:lpstr>EDA – Reference Gene Information</vt:lpstr>
      <vt:lpstr>EDA – Reference Gene Information</vt:lpstr>
      <vt:lpstr>EDA – Gene Information</vt:lpstr>
      <vt:lpstr>EDA – The Optimal Window Size</vt:lpstr>
      <vt:lpstr>EDA – Gene Expression</vt:lpstr>
      <vt:lpstr>EDA – Gene Expression</vt:lpstr>
      <vt:lpstr>EDA – Chromatin Landscape</vt:lpstr>
      <vt:lpstr>EDA – Chromatin Landscape</vt:lpstr>
      <vt:lpstr>EDA – BigWig vs. BED</vt:lpstr>
      <vt:lpstr>Features Engineer</vt:lpstr>
      <vt:lpstr>Model selection</vt:lpstr>
      <vt:lpstr>The Training Strategy</vt:lpstr>
      <vt:lpstr>The Training Strategy - Cell line</vt:lpstr>
      <vt:lpstr>The Training Strategy - Chromosome</vt:lpstr>
      <vt:lpstr>Binary Threshold selection</vt:lpstr>
      <vt:lpstr>Binary Strategy selection</vt:lpstr>
      <vt:lpstr>Prediction stacking</vt:lpstr>
      <vt:lpstr>Result Interpretation</vt:lpstr>
      <vt:lpstr>Question for you</vt:lpstr>
      <vt:lpstr>Competitions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of Gene Expression from Chromatin Landscape</dc:title>
  <dc:creator>王定洋</dc:creator>
  <cp:lastModifiedBy>王定洋</cp:lastModifiedBy>
  <cp:revision>60</cp:revision>
  <dcterms:created xsi:type="dcterms:W3CDTF">2025-11-09T14:33:57Z</dcterms:created>
  <dcterms:modified xsi:type="dcterms:W3CDTF">2025-11-11T22:29:52Z</dcterms:modified>
</cp:coreProperties>
</file>